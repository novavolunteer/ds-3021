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9" r:id="rId4"/>
  </p:sldMasterIdLst>
  <p:notesMasterIdLst>
    <p:notesMasterId r:id="rId12"/>
  </p:notesMasterIdLst>
  <p:handoutMasterIdLst>
    <p:handoutMasterId r:id="rId13"/>
  </p:handoutMasterIdLst>
  <p:sldIdLst>
    <p:sldId id="289" r:id="rId5"/>
    <p:sldId id="413" r:id="rId6"/>
    <p:sldId id="2438" r:id="rId7"/>
    <p:sldId id="414" r:id="rId8"/>
    <p:sldId id="420" r:id="rId9"/>
    <p:sldId id="421" r:id="rId10"/>
    <p:sldId id="2440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FFFFFF"/>
    <a:srgbClr val="DFBD17"/>
    <a:srgbClr val="054317"/>
    <a:srgbClr val="1A6613"/>
    <a:srgbClr val="FFBA03"/>
    <a:srgbClr val="ECB409"/>
    <a:srgbClr val="A0A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9DCAF9ED-07DC-4A11-8D7F-57B35C25682E}" styleName="Medium Style 10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93D81CF-94F2-401A-BA57-92F5A7B2D0C5}" styleName="Medium Style 8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FD0F851-EC5A-4D38-B0AD-8093EC10F338}" styleName="Light Style 6">
    <a:wholeTbl>
      <a:tcTxStyle>
        <a:fontRef idx="minor">
          <a:scrgbClr r="0" g="0" b="0"/>
        </a:fontRef>
        <a:schemeClr val="accent5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1FECB4D8-DB02-4DC6-A0A2-4F2EBAE1DC90}" styleName="Medium Style 1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B4B98B0-60AC-42C2-AFA5-B58CD77FA1E5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0E3FDE45-AF77-4B5C-9715-49D594BDF05E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8" autoAdjust="0"/>
    <p:restoredTop sz="92506" autoAdjust="0"/>
  </p:normalViewPr>
  <p:slideViewPr>
    <p:cSldViewPr>
      <p:cViewPr varScale="1">
        <p:scale>
          <a:sx n="100" d="100"/>
          <a:sy n="100" d="100"/>
        </p:scale>
        <p:origin x="9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2361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3B9F0CED-7E24-BF4C-9217-89A85EA4613D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02E9CC9B-1844-7749-A6D1-3AF634BC83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94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8A491313-BF83-BC4F-87DA-A29417CF61EE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anchor="ctr"/>
          <a:lstStyle/>
          <a:p>
            <a:pPr lvl="0"/>
            <a:endParaRPr lang="en-US" noProof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extLst/>
          </a:lstStyle>
          <a:p>
            <a:pPr>
              <a:defRPr/>
            </a:pPr>
            <a:fld id="{42310910-2610-F946-B908-1B939B60B2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88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FB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505" y="601091"/>
            <a:ext cx="5735025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505" y="3137687"/>
            <a:ext cx="5735025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ECE9C6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47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17987" y="132835"/>
            <a:ext cx="10341684" cy="715304"/>
          </a:xfrm>
          <a:prstGeom prst="rect">
            <a:avLst/>
          </a:prstGeom>
        </p:spPr>
        <p:txBody>
          <a:bodyPr/>
          <a:lstStyle>
            <a:lvl1pPr algn="ctr">
              <a:defRPr sz="3000" b="1">
                <a:solidFill>
                  <a:srgbClr val="002060"/>
                </a:solidFill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4851959" y="6355833"/>
            <a:ext cx="2473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5459897"/>
            <a:ext cx="12192000" cy="28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27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5528734" y="2887664"/>
            <a:ext cx="114511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9pPr>
          </a:lstStyle>
          <a:p>
            <a:endParaRPr lang="en-US" sz="5400">
              <a:solidFill>
                <a:srgbClr val="DBA455"/>
              </a:solidFill>
              <a:latin typeface="Wingdings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54" y="1204857"/>
            <a:ext cx="10339617" cy="1910716"/>
          </a:xfrm>
          <a:prstGeom prst="rect">
            <a:avLst/>
          </a:prstGeom>
        </p:spPr>
        <p:txBody>
          <a:bodyPr anchor="b"/>
          <a:lstStyle>
            <a:lvl1pPr algn="ctr">
              <a:defRPr sz="5400" b="1" cap="none" baseline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2331" y="3324432"/>
            <a:ext cx="10312996" cy="150018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01401"/>
            <a:ext cx="12192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9B7727-4F88-43AA-BB13-AEDC87DDB3EA}"/>
              </a:ext>
            </a:extLst>
          </p:cNvPr>
          <p:cNvSpPr txBox="1"/>
          <p:nvPr userDrawn="1"/>
        </p:nvSpPr>
        <p:spPr>
          <a:xfrm>
            <a:off x="4851959" y="6355833"/>
            <a:ext cx="2473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41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17987" y="570156"/>
            <a:ext cx="10341684" cy="1054250"/>
          </a:xfrm>
          <a:prstGeom prst="rect">
            <a:avLst/>
          </a:prstGeom>
        </p:spPr>
        <p:txBody>
          <a:bodyPr/>
          <a:lstStyle>
            <a:lvl1pPr>
              <a:defRPr sz="4300" b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1845482"/>
            <a:ext cx="5071872" cy="34344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193535" y="1845482"/>
            <a:ext cx="5071872" cy="34344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48F2E-56D7-4783-BAD3-21D3D207EEC0}"/>
              </a:ext>
            </a:extLst>
          </p:cNvPr>
          <p:cNvSpPr txBox="1"/>
          <p:nvPr userDrawn="1"/>
        </p:nvSpPr>
        <p:spPr>
          <a:xfrm>
            <a:off x="4851959" y="6355833"/>
            <a:ext cx="2473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9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987" y="570156"/>
            <a:ext cx="10341684" cy="1054250"/>
          </a:xfrm>
          <a:prstGeom prst="rect">
            <a:avLst/>
          </a:prstGeom>
        </p:spPr>
        <p:txBody>
          <a:bodyPr/>
          <a:lstStyle>
            <a:lvl1pPr>
              <a:defRPr sz="4300" b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987" y="1783601"/>
            <a:ext cx="4829239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985" y="2622290"/>
            <a:ext cx="4829241" cy="25951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1171" y="1783601"/>
            <a:ext cx="4884955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1171" y="2619063"/>
            <a:ext cx="4878500" cy="25951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3606E-E78E-4013-979D-EBC44B2578B0}"/>
              </a:ext>
            </a:extLst>
          </p:cNvPr>
          <p:cNvSpPr txBox="1"/>
          <p:nvPr userDrawn="1"/>
        </p:nvSpPr>
        <p:spPr>
          <a:xfrm>
            <a:off x="4851959" y="6355833"/>
            <a:ext cx="2473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6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2670" y="559400"/>
            <a:ext cx="4774509" cy="4414019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algn="l">
              <a:defRPr sz="2000">
                <a:latin typeface="Arial"/>
                <a:cs typeface="Arial"/>
              </a:defRPr>
            </a:lvl2pPr>
            <a:lvl3pPr algn="l">
              <a:defRPr sz="2000">
                <a:latin typeface="Arial"/>
                <a:cs typeface="Arial"/>
              </a:defRPr>
            </a:lvl3pPr>
            <a:lvl4pPr algn="l">
              <a:defRPr sz="2000">
                <a:latin typeface="Arial"/>
                <a:cs typeface="Arial"/>
              </a:defRPr>
            </a:lvl4pPr>
            <a:lvl5pPr algn="l">
              <a:defRPr sz="2000">
                <a:latin typeface="Arial"/>
                <a:cs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9750" y="562026"/>
            <a:ext cx="4774509" cy="44140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883EE-BF10-4465-BD1D-99F0789C4C25}"/>
              </a:ext>
            </a:extLst>
          </p:cNvPr>
          <p:cNvSpPr txBox="1"/>
          <p:nvPr userDrawn="1"/>
        </p:nvSpPr>
        <p:spPr>
          <a:xfrm>
            <a:off x="4851959" y="6355833"/>
            <a:ext cx="2473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7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344365">
            <a:off x="1031301" y="536673"/>
            <a:ext cx="10104435" cy="34913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986" y="4486019"/>
            <a:ext cx="10341685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028ED-E0C5-416B-96EC-0B000BC36B18}"/>
              </a:ext>
            </a:extLst>
          </p:cNvPr>
          <p:cNvSpPr txBox="1"/>
          <p:nvPr userDrawn="1"/>
        </p:nvSpPr>
        <p:spPr>
          <a:xfrm>
            <a:off x="4851959" y="6355833"/>
            <a:ext cx="2473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31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PPT-General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" descr="genbuffbacker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246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MVC-ppt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80505" y="601091"/>
            <a:ext cx="5735025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80505" y="3137687"/>
            <a:ext cx="5735025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ECE9C6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09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VST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vstc-ppt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80505" y="601091"/>
            <a:ext cx="5735025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80505" y="3137687"/>
            <a:ext cx="5735025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ECE9C6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59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photos-ppt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80505" y="601091"/>
            <a:ext cx="5735025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80505" y="3137687"/>
            <a:ext cx="5735025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ECE9C6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208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ustom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9" descr="bgbuffonephoto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480504" y="3137687"/>
            <a:ext cx="4878397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480505" y="601091"/>
            <a:ext cx="5974084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2606493" y="0"/>
            <a:ext cx="9602107" cy="6858000"/>
          </a:xfrm>
          <a:custGeom>
            <a:avLst/>
            <a:gdLst>
              <a:gd name="connsiteX0" fmla="*/ 0 w 7201580"/>
              <a:gd name="connsiteY0" fmla="*/ 0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0 w 7201580"/>
              <a:gd name="connsiteY4" fmla="*/ 0 h 6858000"/>
              <a:gd name="connsiteX0" fmla="*/ 5050118 w 7201580"/>
              <a:gd name="connsiteY0" fmla="*/ 74706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50118 w 7201580"/>
              <a:gd name="connsiteY4" fmla="*/ 74706 h 6858000"/>
              <a:gd name="connsiteX0" fmla="*/ 5020236 w 7201580"/>
              <a:gd name="connsiteY0" fmla="*/ 29883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20236 w 7201580"/>
              <a:gd name="connsiteY4" fmla="*/ 29883 h 6858000"/>
              <a:gd name="connsiteX0" fmla="*/ 5020236 w 7201580"/>
              <a:gd name="connsiteY0" fmla="*/ 14941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20236 w 7201580"/>
              <a:gd name="connsiteY4" fmla="*/ 149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1580" h="6858000">
                <a:moveTo>
                  <a:pt x="5020236" y="14941"/>
                </a:moveTo>
                <a:lnTo>
                  <a:pt x="7201580" y="0"/>
                </a:lnTo>
                <a:lnTo>
                  <a:pt x="7201580" y="6858000"/>
                </a:lnTo>
                <a:lnTo>
                  <a:pt x="0" y="6858000"/>
                </a:lnTo>
                <a:lnTo>
                  <a:pt x="5020236" y="14941"/>
                </a:lnTo>
                <a:close/>
              </a:path>
            </a:pathLst>
          </a:custGeom>
        </p:spPr>
        <p:txBody>
          <a:bodyPr vert="horz" anchor="ctr"/>
          <a:lstStyle>
            <a:lvl1pPr algn="r">
              <a:lnSpc>
                <a:spcPct val="100000"/>
              </a:lnSpc>
              <a:defRPr sz="2000">
                <a:solidFill>
                  <a:srgbClr val="ECE9C6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509256" y="4579023"/>
            <a:ext cx="4625931" cy="1248690"/>
          </a:xfrm>
          <a:custGeom>
            <a:avLst/>
            <a:gdLst>
              <a:gd name="connsiteX0" fmla="*/ 0 w 1768475"/>
              <a:gd name="connsiteY0" fmla="*/ 0 h 1257300"/>
              <a:gd name="connsiteX1" fmla="*/ 1768475 w 1768475"/>
              <a:gd name="connsiteY1" fmla="*/ 0 h 1257300"/>
              <a:gd name="connsiteX2" fmla="*/ 1768475 w 1768475"/>
              <a:gd name="connsiteY2" fmla="*/ 1257300 h 1257300"/>
              <a:gd name="connsiteX3" fmla="*/ 0 w 1768475"/>
              <a:gd name="connsiteY3" fmla="*/ 1257300 h 1257300"/>
              <a:gd name="connsiteX4" fmla="*/ 0 w 1768475"/>
              <a:gd name="connsiteY4" fmla="*/ 0 h 1257300"/>
              <a:gd name="connsiteX0" fmla="*/ 0 w 2647177"/>
              <a:gd name="connsiteY0" fmla="*/ 0 h 1257300"/>
              <a:gd name="connsiteX1" fmla="*/ 2647177 w 2647177"/>
              <a:gd name="connsiteY1" fmla="*/ 13729 h 1257300"/>
              <a:gd name="connsiteX2" fmla="*/ 1768475 w 2647177"/>
              <a:gd name="connsiteY2" fmla="*/ 1257300 h 1257300"/>
              <a:gd name="connsiteX3" fmla="*/ 0 w 2647177"/>
              <a:gd name="connsiteY3" fmla="*/ 1257300 h 1257300"/>
              <a:gd name="connsiteX4" fmla="*/ 0 w 2647177"/>
              <a:gd name="connsiteY4" fmla="*/ 0 h 1257300"/>
              <a:gd name="connsiteX0" fmla="*/ 109838 w 2647177"/>
              <a:gd name="connsiteY0" fmla="*/ 0 h 1257300"/>
              <a:gd name="connsiteX1" fmla="*/ 2647177 w 2647177"/>
              <a:gd name="connsiteY1" fmla="*/ 13729 h 1257300"/>
              <a:gd name="connsiteX2" fmla="*/ 1768475 w 2647177"/>
              <a:gd name="connsiteY2" fmla="*/ 1257300 h 1257300"/>
              <a:gd name="connsiteX3" fmla="*/ 0 w 2647177"/>
              <a:gd name="connsiteY3" fmla="*/ 1257300 h 1257300"/>
              <a:gd name="connsiteX4" fmla="*/ 109838 w 2647177"/>
              <a:gd name="connsiteY4" fmla="*/ 0 h 1257300"/>
              <a:gd name="connsiteX0" fmla="*/ 109838 w 2647177"/>
              <a:gd name="connsiteY0" fmla="*/ 0 h 1257300"/>
              <a:gd name="connsiteX1" fmla="*/ 2647177 w 2647177"/>
              <a:gd name="connsiteY1" fmla="*/ 13729 h 1257300"/>
              <a:gd name="connsiteX2" fmla="*/ 1706691 w 2647177"/>
              <a:gd name="connsiteY2" fmla="*/ 1250435 h 1257300"/>
              <a:gd name="connsiteX3" fmla="*/ 0 w 2647177"/>
              <a:gd name="connsiteY3" fmla="*/ 1257300 h 1257300"/>
              <a:gd name="connsiteX4" fmla="*/ 109838 w 2647177"/>
              <a:gd name="connsiteY4" fmla="*/ 0 h 1257300"/>
              <a:gd name="connsiteX0" fmla="*/ 114144 w 2647177"/>
              <a:gd name="connsiteY0" fmla="*/ 0 h 1248690"/>
              <a:gd name="connsiteX1" fmla="*/ 2647177 w 2647177"/>
              <a:gd name="connsiteY1" fmla="*/ 5119 h 1248690"/>
              <a:gd name="connsiteX2" fmla="*/ 1706691 w 2647177"/>
              <a:gd name="connsiteY2" fmla="*/ 1241825 h 1248690"/>
              <a:gd name="connsiteX3" fmla="*/ 0 w 2647177"/>
              <a:gd name="connsiteY3" fmla="*/ 1248690 h 1248690"/>
              <a:gd name="connsiteX4" fmla="*/ 114144 w 2647177"/>
              <a:gd name="connsiteY4" fmla="*/ 0 h 1248690"/>
              <a:gd name="connsiteX0" fmla="*/ 936415 w 3469448"/>
              <a:gd name="connsiteY0" fmla="*/ 0 h 1248690"/>
              <a:gd name="connsiteX1" fmla="*/ 3469448 w 3469448"/>
              <a:gd name="connsiteY1" fmla="*/ 5119 h 1248690"/>
              <a:gd name="connsiteX2" fmla="*/ 2528962 w 3469448"/>
              <a:gd name="connsiteY2" fmla="*/ 1241825 h 1248690"/>
              <a:gd name="connsiteX3" fmla="*/ 0 w 3469448"/>
              <a:gd name="connsiteY3" fmla="*/ 1248690 h 1248690"/>
              <a:gd name="connsiteX4" fmla="*/ 936415 w 3469448"/>
              <a:gd name="connsiteY4" fmla="*/ 0 h 1248690"/>
              <a:gd name="connsiteX0" fmla="*/ 936415 w 3469448"/>
              <a:gd name="connsiteY0" fmla="*/ 0 h 1248690"/>
              <a:gd name="connsiteX1" fmla="*/ 3469448 w 3469448"/>
              <a:gd name="connsiteY1" fmla="*/ 5119 h 1248690"/>
              <a:gd name="connsiteX2" fmla="*/ 2528962 w 3469448"/>
              <a:gd name="connsiteY2" fmla="*/ 1246131 h 1248690"/>
              <a:gd name="connsiteX3" fmla="*/ 0 w 3469448"/>
              <a:gd name="connsiteY3" fmla="*/ 1248690 h 1248690"/>
              <a:gd name="connsiteX4" fmla="*/ 936415 w 3469448"/>
              <a:gd name="connsiteY4" fmla="*/ 0 h 1248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48" h="1248690">
                <a:moveTo>
                  <a:pt x="936415" y="0"/>
                </a:moveTo>
                <a:lnTo>
                  <a:pt x="3469448" y="5119"/>
                </a:lnTo>
                <a:lnTo>
                  <a:pt x="2528962" y="1246131"/>
                </a:lnTo>
                <a:lnTo>
                  <a:pt x="0" y="1248690"/>
                </a:lnTo>
                <a:lnTo>
                  <a:pt x="936415" y="0"/>
                </a:lnTo>
                <a:close/>
              </a:path>
            </a:pathLst>
          </a:custGeom>
        </p:spPr>
        <p:txBody>
          <a:bodyPr vert="horz"/>
          <a:lstStyle>
            <a:lvl1pPr algn="ctr">
              <a:defRPr sz="15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180403" y="4579023"/>
            <a:ext cx="4625931" cy="1248690"/>
          </a:xfrm>
          <a:custGeom>
            <a:avLst/>
            <a:gdLst>
              <a:gd name="connsiteX0" fmla="*/ 0 w 1768475"/>
              <a:gd name="connsiteY0" fmla="*/ 0 h 1257300"/>
              <a:gd name="connsiteX1" fmla="*/ 1768475 w 1768475"/>
              <a:gd name="connsiteY1" fmla="*/ 0 h 1257300"/>
              <a:gd name="connsiteX2" fmla="*/ 1768475 w 1768475"/>
              <a:gd name="connsiteY2" fmla="*/ 1257300 h 1257300"/>
              <a:gd name="connsiteX3" fmla="*/ 0 w 1768475"/>
              <a:gd name="connsiteY3" fmla="*/ 1257300 h 1257300"/>
              <a:gd name="connsiteX4" fmla="*/ 0 w 1768475"/>
              <a:gd name="connsiteY4" fmla="*/ 0 h 1257300"/>
              <a:gd name="connsiteX0" fmla="*/ 0 w 2647177"/>
              <a:gd name="connsiteY0" fmla="*/ 0 h 1257300"/>
              <a:gd name="connsiteX1" fmla="*/ 2647177 w 2647177"/>
              <a:gd name="connsiteY1" fmla="*/ 13729 h 1257300"/>
              <a:gd name="connsiteX2" fmla="*/ 1768475 w 2647177"/>
              <a:gd name="connsiteY2" fmla="*/ 1257300 h 1257300"/>
              <a:gd name="connsiteX3" fmla="*/ 0 w 2647177"/>
              <a:gd name="connsiteY3" fmla="*/ 1257300 h 1257300"/>
              <a:gd name="connsiteX4" fmla="*/ 0 w 2647177"/>
              <a:gd name="connsiteY4" fmla="*/ 0 h 1257300"/>
              <a:gd name="connsiteX0" fmla="*/ 109838 w 2647177"/>
              <a:gd name="connsiteY0" fmla="*/ 0 h 1257300"/>
              <a:gd name="connsiteX1" fmla="*/ 2647177 w 2647177"/>
              <a:gd name="connsiteY1" fmla="*/ 13729 h 1257300"/>
              <a:gd name="connsiteX2" fmla="*/ 1768475 w 2647177"/>
              <a:gd name="connsiteY2" fmla="*/ 1257300 h 1257300"/>
              <a:gd name="connsiteX3" fmla="*/ 0 w 2647177"/>
              <a:gd name="connsiteY3" fmla="*/ 1257300 h 1257300"/>
              <a:gd name="connsiteX4" fmla="*/ 109838 w 2647177"/>
              <a:gd name="connsiteY4" fmla="*/ 0 h 1257300"/>
              <a:gd name="connsiteX0" fmla="*/ 109838 w 2647177"/>
              <a:gd name="connsiteY0" fmla="*/ 0 h 1257300"/>
              <a:gd name="connsiteX1" fmla="*/ 2647177 w 2647177"/>
              <a:gd name="connsiteY1" fmla="*/ 13729 h 1257300"/>
              <a:gd name="connsiteX2" fmla="*/ 1706691 w 2647177"/>
              <a:gd name="connsiteY2" fmla="*/ 1250435 h 1257300"/>
              <a:gd name="connsiteX3" fmla="*/ 0 w 2647177"/>
              <a:gd name="connsiteY3" fmla="*/ 1257300 h 1257300"/>
              <a:gd name="connsiteX4" fmla="*/ 109838 w 2647177"/>
              <a:gd name="connsiteY4" fmla="*/ 0 h 1257300"/>
              <a:gd name="connsiteX0" fmla="*/ 114144 w 2647177"/>
              <a:gd name="connsiteY0" fmla="*/ 0 h 1248690"/>
              <a:gd name="connsiteX1" fmla="*/ 2647177 w 2647177"/>
              <a:gd name="connsiteY1" fmla="*/ 5119 h 1248690"/>
              <a:gd name="connsiteX2" fmla="*/ 1706691 w 2647177"/>
              <a:gd name="connsiteY2" fmla="*/ 1241825 h 1248690"/>
              <a:gd name="connsiteX3" fmla="*/ 0 w 2647177"/>
              <a:gd name="connsiteY3" fmla="*/ 1248690 h 1248690"/>
              <a:gd name="connsiteX4" fmla="*/ 114144 w 2647177"/>
              <a:gd name="connsiteY4" fmla="*/ 0 h 1248690"/>
              <a:gd name="connsiteX0" fmla="*/ 936415 w 3469448"/>
              <a:gd name="connsiteY0" fmla="*/ 0 h 1248690"/>
              <a:gd name="connsiteX1" fmla="*/ 3469448 w 3469448"/>
              <a:gd name="connsiteY1" fmla="*/ 5119 h 1248690"/>
              <a:gd name="connsiteX2" fmla="*/ 2528962 w 3469448"/>
              <a:gd name="connsiteY2" fmla="*/ 1241825 h 1248690"/>
              <a:gd name="connsiteX3" fmla="*/ 0 w 3469448"/>
              <a:gd name="connsiteY3" fmla="*/ 1248690 h 1248690"/>
              <a:gd name="connsiteX4" fmla="*/ 936415 w 3469448"/>
              <a:gd name="connsiteY4" fmla="*/ 0 h 1248690"/>
              <a:gd name="connsiteX0" fmla="*/ 936415 w 3469448"/>
              <a:gd name="connsiteY0" fmla="*/ 0 h 1248690"/>
              <a:gd name="connsiteX1" fmla="*/ 3469448 w 3469448"/>
              <a:gd name="connsiteY1" fmla="*/ 5119 h 1248690"/>
              <a:gd name="connsiteX2" fmla="*/ 2528962 w 3469448"/>
              <a:gd name="connsiteY2" fmla="*/ 1246131 h 1248690"/>
              <a:gd name="connsiteX3" fmla="*/ 0 w 3469448"/>
              <a:gd name="connsiteY3" fmla="*/ 1248690 h 1248690"/>
              <a:gd name="connsiteX4" fmla="*/ 936415 w 3469448"/>
              <a:gd name="connsiteY4" fmla="*/ 0 h 1248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48" h="1248690">
                <a:moveTo>
                  <a:pt x="936415" y="0"/>
                </a:moveTo>
                <a:lnTo>
                  <a:pt x="3469448" y="5119"/>
                </a:lnTo>
                <a:lnTo>
                  <a:pt x="2528962" y="1246131"/>
                </a:lnTo>
                <a:lnTo>
                  <a:pt x="0" y="1248690"/>
                </a:lnTo>
                <a:lnTo>
                  <a:pt x="936415" y="0"/>
                </a:lnTo>
                <a:close/>
              </a:path>
            </a:pathLst>
          </a:custGeom>
        </p:spPr>
        <p:txBody>
          <a:bodyPr vert="horz"/>
          <a:lstStyle>
            <a:lvl1pPr algn="ctr">
              <a:defRPr sz="15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838003" y="4579023"/>
            <a:ext cx="4625931" cy="1248690"/>
          </a:xfrm>
          <a:custGeom>
            <a:avLst/>
            <a:gdLst>
              <a:gd name="connsiteX0" fmla="*/ 0 w 1768475"/>
              <a:gd name="connsiteY0" fmla="*/ 0 h 1257300"/>
              <a:gd name="connsiteX1" fmla="*/ 1768475 w 1768475"/>
              <a:gd name="connsiteY1" fmla="*/ 0 h 1257300"/>
              <a:gd name="connsiteX2" fmla="*/ 1768475 w 1768475"/>
              <a:gd name="connsiteY2" fmla="*/ 1257300 h 1257300"/>
              <a:gd name="connsiteX3" fmla="*/ 0 w 1768475"/>
              <a:gd name="connsiteY3" fmla="*/ 1257300 h 1257300"/>
              <a:gd name="connsiteX4" fmla="*/ 0 w 1768475"/>
              <a:gd name="connsiteY4" fmla="*/ 0 h 1257300"/>
              <a:gd name="connsiteX0" fmla="*/ 0 w 2647177"/>
              <a:gd name="connsiteY0" fmla="*/ 0 h 1257300"/>
              <a:gd name="connsiteX1" fmla="*/ 2647177 w 2647177"/>
              <a:gd name="connsiteY1" fmla="*/ 13729 h 1257300"/>
              <a:gd name="connsiteX2" fmla="*/ 1768475 w 2647177"/>
              <a:gd name="connsiteY2" fmla="*/ 1257300 h 1257300"/>
              <a:gd name="connsiteX3" fmla="*/ 0 w 2647177"/>
              <a:gd name="connsiteY3" fmla="*/ 1257300 h 1257300"/>
              <a:gd name="connsiteX4" fmla="*/ 0 w 2647177"/>
              <a:gd name="connsiteY4" fmla="*/ 0 h 1257300"/>
              <a:gd name="connsiteX0" fmla="*/ 109838 w 2647177"/>
              <a:gd name="connsiteY0" fmla="*/ 0 h 1257300"/>
              <a:gd name="connsiteX1" fmla="*/ 2647177 w 2647177"/>
              <a:gd name="connsiteY1" fmla="*/ 13729 h 1257300"/>
              <a:gd name="connsiteX2" fmla="*/ 1768475 w 2647177"/>
              <a:gd name="connsiteY2" fmla="*/ 1257300 h 1257300"/>
              <a:gd name="connsiteX3" fmla="*/ 0 w 2647177"/>
              <a:gd name="connsiteY3" fmla="*/ 1257300 h 1257300"/>
              <a:gd name="connsiteX4" fmla="*/ 109838 w 2647177"/>
              <a:gd name="connsiteY4" fmla="*/ 0 h 1257300"/>
              <a:gd name="connsiteX0" fmla="*/ 109838 w 2647177"/>
              <a:gd name="connsiteY0" fmla="*/ 0 h 1257300"/>
              <a:gd name="connsiteX1" fmla="*/ 2647177 w 2647177"/>
              <a:gd name="connsiteY1" fmla="*/ 13729 h 1257300"/>
              <a:gd name="connsiteX2" fmla="*/ 1706691 w 2647177"/>
              <a:gd name="connsiteY2" fmla="*/ 1250435 h 1257300"/>
              <a:gd name="connsiteX3" fmla="*/ 0 w 2647177"/>
              <a:gd name="connsiteY3" fmla="*/ 1257300 h 1257300"/>
              <a:gd name="connsiteX4" fmla="*/ 109838 w 2647177"/>
              <a:gd name="connsiteY4" fmla="*/ 0 h 1257300"/>
              <a:gd name="connsiteX0" fmla="*/ 114144 w 2647177"/>
              <a:gd name="connsiteY0" fmla="*/ 0 h 1248690"/>
              <a:gd name="connsiteX1" fmla="*/ 2647177 w 2647177"/>
              <a:gd name="connsiteY1" fmla="*/ 5119 h 1248690"/>
              <a:gd name="connsiteX2" fmla="*/ 1706691 w 2647177"/>
              <a:gd name="connsiteY2" fmla="*/ 1241825 h 1248690"/>
              <a:gd name="connsiteX3" fmla="*/ 0 w 2647177"/>
              <a:gd name="connsiteY3" fmla="*/ 1248690 h 1248690"/>
              <a:gd name="connsiteX4" fmla="*/ 114144 w 2647177"/>
              <a:gd name="connsiteY4" fmla="*/ 0 h 1248690"/>
              <a:gd name="connsiteX0" fmla="*/ 936415 w 3469448"/>
              <a:gd name="connsiteY0" fmla="*/ 0 h 1248690"/>
              <a:gd name="connsiteX1" fmla="*/ 3469448 w 3469448"/>
              <a:gd name="connsiteY1" fmla="*/ 5119 h 1248690"/>
              <a:gd name="connsiteX2" fmla="*/ 2528962 w 3469448"/>
              <a:gd name="connsiteY2" fmla="*/ 1241825 h 1248690"/>
              <a:gd name="connsiteX3" fmla="*/ 0 w 3469448"/>
              <a:gd name="connsiteY3" fmla="*/ 1248690 h 1248690"/>
              <a:gd name="connsiteX4" fmla="*/ 936415 w 3469448"/>
              <a:gd name="connsiteY4" fmla="*/ 0 h 1248690"/>
              <a:gd name="connsiteX0" fmla="*/ 936415 w 3469448"/>
              <a:gd name="connsiteY0" fmla="*/ 0 h 1248690"/>
              <a:gd name="connsiteX1" fmla="*/ 3469448 w 3469448"/>
              <a:gd name="connsiteY1" fmla="*/ 5119 h 1248690"/>
              <a:gd name="connsiteX2" fmla="*/ 2528962 w 3469448"/>
              <a:gd name="connsiteY2" fmla="*/ 1246131 h 1248690"/>
              <a:gd name="connsiteX3" fmla="*/ 0 w 3469448"/>
              <a:gd name="connsiteY3" fmla="*/ 1248690 h 1248690"/>
              <a:gd name="connsiteX4" fmla="*/ 936415 w 3469448"/>
              <a:gd name="connsiteY4" fmla="*/ 0 h 1248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48" h="1248690">
                <a:moveTo>
                  <a:pt x="936415" y="0"/>
                </a:moveTo>
                <a:lnTo>
                  <a:pt x="3469448" y="5119"/>
                </a:lnTo>
                <a:lnTo>
                  <a:pt x="2528962" y="1246131"/>
                </a:lnTo>
                <a:lnTo>
                  <a:pt x="0" y="1248690"/>
                </a:lnTo>
                <a:lnTo>
                  <a:pt x="936415" y="0"/>
                </a:lnTo>
                <a:close/>
              </a:path>
            </a:pathLst>
          </a:custGeom>
        </p:spPr>
        <p:txBody>
          <a:bodyPr vert="horz"/>
          <a:lstStyle>
            <a:lvl1pPr algn="ctr">
              <a:defRPr sz="15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2033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5" y="1"/>
            <a:ext cx="10515600" cy="731520"/>
          </a:xfrm>
        </p:spPr>
        <p:txBody>
          <a:bodyPr>
            <a:normAutofit/>
          </a:bodyPr>
          <a:lstStyle>
            <a:lvl1pPr>
              <a:defRPr sz="21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55" y="1066868"/>
            <a:ext cx="10515600" cy="4351338"/>
          </a:xfrm>
        </p:spPr>
        <p:txBody>
          <a:bodyPr/>
          <a:lstStyle>
            <a:lvl1pPr marL="171450" indent="-171450">
              <a:buFont typeface="Wingdings" panose="05000000000000000000" pitchFamily="2" charset="2"/>
              <a:buChar char="Ø"/>
              <a:defRPr/>
            </a:lvl1pPr>
            <a:lvl2pPr marL="514350" indent="-171450">
              <a:buFont typeface="Wingdings" panose="05000000000000000000" pitchFamily="2" charset="2"/>
              <a:buChar char="v"/>
              <a:defRPr/>
            </a:lvl2pPr>
            <a:lvl3pPr marL="857250" indent="-171450">
              <a:buFont typeface="Wingdings" panose="05000000000000000000" pitchFamily="2" charset="2"/>
              <a:buChar char="Ø"/>
              <a:defRPr/>
            </a:lvl3pPr>
            <a:lvl4pPr marL="1200150" indent="-171450">
              <a:buFont typeface="Wingdings" panose="05000000000000000000" pitchFamily="2" charset="2"/>
              <a:buChar char="v"/>
              <a:defRPr/>
            </a:lvl4pPr>
            <a:lvl5pPr marL="1543050" indent="-17145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6711" y="6356352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5ACD0CF0-90CC-9C41-A77B-2776398A8C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66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17987" y="132835"/>
            <a:ext cx="10341684" cy="715304"/>
          </a:xfrm>
          <a:prstGeom prst="rect">
            <a:avLst/>
          </a:prstGeom>
        </p:spPr>
        <p:txBody>
          <a:bodyPr/>
          <a:lstStyle>
            <a:lvl1pPr algn="ctr">
              <a:defRPr sz="2250" b="1">
                <a:solidFill>
                  <a:srgbClr val="002060"/>
                </a:solidFill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4851960" y="6355833"/>
            <a:ext cx="24737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z="1350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sz="1350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5459899"/>
            <a:ext cx="12192000" cy="28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094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17987" y="132835"/>
            <a:ext cx="10341684" cy="715304"/>
          </a:xfrm>
          <a:prstGeom prst="rect">
            <a:avLst/>
          </a:prstGeom>
        </p:spPr>
        <p:txBody>
          <a:bodyPr/>
          <a:lstStyle>
            <a:lvl1pPr algn="ctr">
              <a:defRPr sz="2250" b="1">
                <a:solidFill>
                  <a:srgbClr val="002060"/>
                </a:solidFill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4851960" y="6355833"/>
            <a:ext cx="24737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z="1350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sz="1350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5459899"/>
            <a:ext cx="12192000" cy="28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100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17987" y="132835"/>
            <a:ext cx="10341684" cy="715304"/>
          </a:xfrm>
          <a:prstGeom prst="rect">
            <a:avLst/>
          </a:prstGeom>
        </p:spPr>
        <p:txBody>
          <a:bodyPr/>
          <a:lstStyle>
            <a:lvl1pPr algn="ctr">
              <a:defRPr sz="2250" b="1">
                <a:solidFill>
                  <a:srgbClr val="002060"/>
                </a:solidFill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4851960" y="6355833"/>
            <a:ext cx="24737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C8DB460-5AC8-4C2B-B119-CDD21F954625}" type="slidenum">
              <a:rPr lang="en-US" sz="1350" smtClean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pPr algn="ctr"/>
              <a:t>‹#›</a:t>
            </a:fld>
            <a:endParaRPr lang="en-US" sz="1350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5459899"/>
            <a:ext cx="12192000" cy="28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73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DE86656-F913-40D1-8835-D9BB6D4A9EF4}"/>
              </a:ext>
            </a:extLst>
          </p:cNvPr>
          <p:cNvGrpSpPr/>
          <p:nvPr userDrawn="1"/>
        </p:nvGrpSpPr>
        <p:grpSpPr>
          <a:xfrm>
            <a:off x="0" y="6048948"/>
            <a:ext cx="12192000" cy="822900"/>
            <a:chOff x="0" y="5163405"/>
            <a:chExt cx="9144000" cy="822900"/>
          </a:xfrm>
        </p:grpSpPr>
        <p:sp>
          <p:nvSpPr>
            <p:cNvPr id="12" name="Google Shape;255;p40">
              <a:extLst>
                <a:ext uri="{FF2B5EF4-FFF2-40B4-BE49-F238E27FC236}">
                  <a16:creationId xmlns:a16="http://schemas.microsoft.com/office/drawing/2014/main" id="{1B1B75B1-CB3A-4318-BAEB-5C4786352F40}"/>
                </a:ext>
              </a:extLst>
            </p:cNvPr>
            <p:cNvSpPr txBox="1"/>
            <p:nvPr/>
          </p:nvSpPr>
          <p:spPr>
            <a:xfrm>
              <a:off x="0" y="5163405"/>
              <a:ext cx="9144000" cy="822900"/>
            </a:xfrm>
            <a:prstGeom prst="rect">
              <a:avLst/>
            </a:prstGeom>
            <a:gradFill>
              <a:gsLst>
                <a:gs pos="0">
                  <a:srgbClr val="231C34"/>
                </a:gs>
                <a:gs pos="100000">
                  <a:srgbClr val="73737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" name="Google Shape;256;p40">
              <a:extLst>
                <a:ext uri="{FF2B5EF4-FFF2-40B4-BE49-F238E27FC236}">
                  <a16:creationId xmlns:a16="http://schemas.microsoft.com/office/drawing/2014/main" id="{F11AB6ED-0A9E-4B06-B554-40C527A385A6}"/>
                </a:ext>
              </a:extLst>
            </p:cNvPr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5821913" y="5295543"/>
              <a:ext cx="3163799" cy="587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6616" y="641128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0DA1A4F-3D9D-4EC4-B0B1-93E85D9B25FE}" type="datetime1">
              <a:rPr lang="en-US" smtClean="0"/>
              <a:t>1/13/2026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94400" y="6400801"/>
            <a:ext cx="647152" cy="312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F5384DF-3CC5-CF4E-9FE1-5084770CC2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5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61" r:id="rId14"/>
    <p:sldLayoutId id="2147483762" r:id="rId15"/>
    <p:sldLayoutId id="2147483763" r:id="rId16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Book Antiqua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Book Antiqua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Book Antiqua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Book Antiqua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defRPr sz="2400" kern="1200">
          <a:solidFill>
            <a:srgbClr val="262626"/>
          </a:solidFill>
          <a:latin typeface="+mn-lt"/>
          <a:ea typeface="ＭＳ Ｐゴシック" charset="0"/>
          <a:cs typeface="ＭＳ Ｐゴシック" charset="0"/>
        </a:defRPr>
      </a:lvl1pPr>
      <a:lvl2pPr marL="4111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defRPr sz="2200" kern="1200">
          <a:solidFill>
            <a:srgbClr val="262626"/>
          </a:solidFill>
          <a:latin typeface="+mn-lt"/>
          <a:ea typeface="ＭＳ Ｐゴシック" charset="0"/>
          <a:cs typeface="+mn-cs"/>
        </a:defRPr>
      </a:lvl2pPr>
      <a:lvl3pPr marL="7762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defRPr sz="2000" kern="1200">
          <a:solidFill>
            <a:srgbClr val="262626"/>
          </a:solidFill>
          <a:latin typeface="+mn-lt"/>
          <a:ea typeface="ＭＳ Ｐゴシック" charset="0"/>
          <a:cs typeface="+mn-cs"/>
        </a:defRPr>
      </a:lvl3pPr>
      <a:lvl4pPr marL="1187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defRPr kern="1200">
          <a:solidFill>
            <a:srgbClr val="262626"/>
          </a:solidFill>
          <a:latin typeface="+mn-lt"/>
          <a:ea typeface="ＭＳ Ｐゴシック" charset="0"/>
          <a:cs typeface="+mn-cs"/>
        </a:defRPr>
      </a:lvl4pPr>
      <a:lvl5pPr marL="15081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defRPr sz="1600" kern="1200">
          <a:solidFill>
            <a:srgbClr val="262626"/>
          </a:solidFill>
          <a:latin typeface="+mn-lt"/>
          <a:ea typeface="ＭＳ Ｐゴシック" charset="0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9929" y="3048000"/>
            <a:ext cx="9067800" cy="1295400"/>
          </a:xfrm>
        </p:spPr>
        <p:txBody>
          <a:bodyPr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Brian Wright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brianwright@virginia.edu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A55DD-1220-4E7C-8864-A4A413D47671}"/>
              </a:ext>
            </a:extLst>
          </p:cNvPr>
          <p:cNvSpPr txBox="1"/>
          <p:nvPr/>
        </p:nvSpPr>
        <p:spPr>
          <a:xfrm>
            <a:off x="1979929" y="838200"/>
            <a:ext cx="8731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defRPr/>
            </a:pPr>
            <a:r>
              <a:rPr lang="en-US" sz="2400" dirty="0">
                <a:latin typeface="Book Antiqua" charset="0"/>
              </a:rPr>
              <a:t>Defining a Field, a School and a Curriculum</a:t>
            </a:r>
          </a:p>
          <a:p>
            <a:pPr lvl="1" algn="ctr">
              <a:defRPr/>
            </a:pPr>
            <a:endParaRPr lang="en-US" sz="2400" dirty="0">
              <a:latin typeface="Book Antiqua" charset="0"/>
            </a:endParaRPr>
          </a:p>
          <a:p>
            <a:pPr lvl="1" algn="ctr">
              <a:defRPr/>
            </a:pPr>
            <a:r>
              <a:rPr lang="en-US" sz="2400" b="1" dirty="0">
                <a:latin typeface="Book Antiqua" charset="0"/>
              </a:rPr>
              <a:t>Walk Around Get to Know Each Other – 5 Minutes </a:t>
            </a:r>
          </a:p>
        </p:txBody>
      </p:sp>
    </p:spTree>
    <p:extLst>
      <p:ext uri="{BB962C8B-B14F-4D97-AF65-F5344CB8AC3E}">
        <p14:creationId xmlns:p14="http://schemas.microsoft.com/office/powerpoint/2010/main" val="284733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4969-3BF7-4344-8146-44FF0A69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52400"/>
            <a:ext cx="7010400" cy="5410200"/>
          </a:xfrm>
        </p:spPr>
        <p:txBody>
          <a:bodyPr>
            <a:no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Brian Wright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 for Undergrad Programs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Virginia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PhD: Higher Education Administration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Economics, Public Policy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the DS Program at GWU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the DSI at GWU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UVA’s Undergraduate Programs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Labs LLC – Founder (DS Consulting)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in Defense Consulting for 10 years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4969-3BF7-4344-8146-44FF0A69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55" y="1709177"/>
            <a:ext cx="7374536" cy="2571750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Interest: Intersection of Data Science and Education generally</a:t>
            </a:r>
            <a:b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Active Learning Lab</a:t>
            </a:r>
            <a:b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64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t that is standing in front of a mirror&#10;&#10;Description automatically generated">
            <a:extLst>
              <a:ext uri="{FF2B5EF4-FFF2-40B4-BE49-F238E27FC236}">
                <a16:creationId xmlns:a16="http://schemas.microsoft.com/office/drawing/2014/main" id="{5C332F22-221D-42AC-A17E-822674CC8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48700" y="1630680"/>
            <a:ext cx="3352800" cy="2514600"/>
          </a:xfrm>
          <a:prstGeom prst="rect">
            <a:avLst/>
          </a:prstGeom>
        </p:spPr>
      </p:pic>
      <p:pic>
        <p:nvPicPr>
          <p:cNvPr id="6" name="Picture 5" descr="A group of people posing for a picture&#10;&#10;Description automatically generated">
            <a:extLst>
              <a:ext uri="{FF2B5EF4-FFF2-40B4-BE49-F238E27FC236}">
                <a16:creationId xmlns:a16="http://schemas.microsoft.com/office/drawing/2014/main" id="{CE33C63C-9A22-CE98-E759-86C940FF6D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04800"/>
            <a:ext cx="3874770" cy="5166360"/>
          </a:xfrm>
          <a:prstGeom prst="rect">
            <a:avLst/>
          </a:prstGeom>
        </p:spPr>
      </p:pic>
      <p:pic>
        <p:nvPicPr>
          <p:cNvPr id="9" name="Picture 8" descr="Two cats looking out a window&#10;&#10;Description automatically generated">
            <a:extLst>
              <a:ext uri="{FF2B5EF4-FFF2-40B4-BE49-F238E27FC236}">
                <a16:creationId xmlns:a16="http://schemas.microsoft.com/office/drawing/2014/main" id="{1D454428-8F9A-E3D9-955F-5CD41EE587D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0" y="662940"/>
            <a:ext cx="3337560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8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59198" y="6340987"/>
            <a:ext cx="2057400" cy="365125"/>
          </a:xfrm>
        </p:spPr>
        <p:txBody>
          <a:bodyPr/>
          <a:lstStyle/>
          <a:p>
            <a:pPr algn="ctr"/>
            <a:fld id="{5ACD0CF0-90CC-9C41-A77B-2776398A8C8B}" type="slidenum">
              <a:rPr lang="en-US" smtClean="0"/>
              <a:pPr algn="ctr"/>
              <a:t>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11BE3-3CB7-4B61-A36E-6C9363A51A90}"/>
              </a:ext>
            </a:extLst>
          </p:cNvPr>
          <p:cNvSpPr txBox="1"/>
          <p:nvPr/>
        </p:nvSpPr>
        <p:spPr>
          <a:xfrm>
            <a:off x="4191000" y="2286001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defRPr/>
            </a:pPr>
            <a:r>
              <a:rPr lang="en-US" sz="2400" b="1" dirty="0">
                <a:latin typeface="Book Antiqua" charset="0"/>
              </a:rPr>
              <a:t>Defining a Field</a:t>
            </a:r>
          </a:p>
        </p:txBody>
      </p:sp>
    </p:spTree>
    <p:extLst>
      <p:ext uri="{BB962C8B-B14F-4D97-AF65-F5344CB8AC3E}">
        <p14:creationId xmlns:p14="http://schemas.microsoft.com/office/powerpoint/2010/main" val="52880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4BD2C6-C73C-4C66-9BE6-32B0EDF4426B}"/>
              </a:ext>
            </a:extLst>
          </p:cNvPr>
          <p:cNvSpPr txBox="1">
            <a:spLocks/>
          </p:cNvSpPr>
          <p:nvPr/>
        </p:nvSpPr>
        <p:spPr>
          <a:xfrm>
            <a:off x="2099085" y="301347"/>
            <a:ext cx="7756263" cy="114300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rgbClr val="002060"/>
                </a:solidFill>
                <a:latin typeface="+mj-lt"/>
                <a:ea typeface="ＭＳ Ｐゴシック" charset="0"/>
                <a:cs typeface="Aharoni" panose="02010803020104030203" pitchFamily="2" charset="-79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This Course: a Bit of Everything but Mostly Analytics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410F6F-02C3-432D-80C9-FD873DB705E1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C57B6-9108-42D6-A6AB-814B133C7278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631D35-275D-4809-969D-410CC60E45AD}"/>
              </a:ext>
            </a:extLst>
          </p:cNvPr>
          <p:cNvGrpSpPr/>
          <p:nvPr/>
        </p:nvGrpSpPr>
        <p:grpSpPr>
          <a:xfrm>
            <a:off x="1524000" y="6048948"/>
            <a:ext cx="9144000" cy="822900"/>
            <a:chOff x="0" y="5163405"/>
            <a:chExt cx="9144000" cy="822900"/>
          </a:xfrm>
        </p:grpSpPr>
        <p:sp>
          <p:nvSpPr>
            <p:cNvPr id="10" name="Google Shape;255;p40">
              <a:extLst>
                <a:ext uri="{FF2B5EF4-FFF2-40B4-BE49-F238E27FC236}">
                  <a16:creationId xmlns:a16="http://schemas.microsoft.com/office/drawing/2014/main" id="{7C1DB25F-A76B-4AB4-A126-D4B4A84DF34E}"/>
                </a:ext>
              </a:extLst>
            </p:cNvPr>
            <p:cNvSpPr txBox="1"/>
            <p:nvPr/>
          </p:nvSpPr>
          <p:spPr>
            <a:xfrm>
              <a:off x="0" y="5163405"/>
              <a:ext cx="9144000" cy="822900"/>
            </a:xfrm>
            <a:prstGeom prst="rect">
              <a:avLst/>
            </a:prstGeom>
            <a:gradFill>
              <a:gsLst>
                <a:gs pos="0">
                  <a:srgbClr val="231C34"/>
                </a:gs>
                <a:gs pos="100000">
                  <a:srgbClr val="73737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256;p40">
              <a:extLst>
                <a:ext uri="{FF2B5EF4-FFF2-40B4-BE49-F238E27FC236}">
                  <a16:creationId xmlns:a16="http://schemas.microsoft.com/office/drawing/2014/main" id="{D4629540-A6FE-4A6D-B94B-2FC6B0E1C7BD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821913" y="5295543"/>
              <a:ext cx="3163799" cy="587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448FA7-187F-D9E4-A8CA-ABBDFCEF10F4}"/>
              </a:ext>
            </a:extLst>
          </p:cNvPr>
          <p:cNvSpPr txBox="1">
            <a:spLocks/>
          </p:cNvSpPr>
          <p:nvPr/>
        </p:nvSpPr>
        <p:spPr>
          <a:xfrm>
            <a:off x="965052" y="1974586"/>
            <a:ext cx="9702948" cy="327816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rgbClr val="002060"/>
                </a:solidFill>
                <a:latin typeface="+mj-lt"/>
                <a:ea typeface="ＭＳ Ｐゴシック" charset="0"/>
                <a:cs typeface="Aharoni" panose="02010803020104030203" pitchFamily="2" charset="-79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Systems: Working environment and version control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Design: Given presentation at the end of the semester, likely will require you to build a standalone website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Value: Going to cover topics related to ethical issues in develop ML solutions </a:t>
            </a:r>
          </a:p>
        </p:txBody>
      </p:sp>
    </p:spTree>
    <p:extLst>
      <p:ext uri="{BB962C8B-B14F-4D97-AF65-F5344CB8AC3E}">
        <p14:creationId xmlns:p14="http://schemas.microsoft.com/office/powerpoint/2010/main" val="73123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C4EE16-2F6F-45DC-BB3E-33E0DCAE6A78}"/>
              </a:ext>
            </a:extLst>
          </p:cNvPr>
          <p:cNvSpPr txBox="1"/>
          <p:nvPr/>
        </p:nvSpPr>
        <p:spPr>
          <a:xfrm>
            <a:off x="1676400" y="66654"/>
            <a:ext cx="86868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Dream Job Discussion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Find a data science "dream job". Assume for a moment that you are destined to be a Data Scientist! March bravely onto the world wide web and find your data scientist dream job, then let's talk about it.  Requirements: must-have "data scientist" in the title Not a requirement - to be a real job, want to create your own...please do, we would all love to hear about it.</a:t>
            </a:r>
            <a:endParaRPr lang="en-US" dirty="0"/>
          </a:p>
          <a:p>
            <a:r>
              <a:rPr lang="en-US" dirty="0"/>
              <a:t> 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Answer these questions</a:t>
            </a:r>
          </a:p>
          <a:p>
            <a:endParaRPr lang="en-US" b="1" dirty="0"/>
          </a:p>
          <a:p>
            <a:r>
              <a:rPr lang="en-US" dirty="0">
                <a:effectLst/>
              </a:rPr>
              <a:t>     - What do I love about this job (salary, company, mission, area of focus, location...etc.)?</a:t>
            </a:r>
            <a:endParaRPr lang="en-US" dirty="0"/>
          </a:p>
          <a:p>
            <a:r>
              <a:rPr lang="en-US" dirty="0"/>
              <a:t> </a:t>
            </a:r>
            <a:r>
              <a:rPr lang="en-US" dirty="0">
                <a:effectLst/>
              </a:rPr>
              <a:t>     - Which components of the Data Science framework are represented (if you can tell)? </a:t>
            </a:r>
            <a:endParaRPr lang="en-US" dirty="0"/>
          </a:p>
          <a:p>
            <a:r>
              <a:rPr lang="en-US" dirty="0">
                <a:effectLst/>
              </a:rPr>
              <a:t>     - What do I need to know to do this job (coding, databases, how to build a self-actualizing and empathetic robot..</a:t>
            </a:r>
            <a:r>
              <a:rPr lang="en-US" dirty="0" err="1">
                <a:effectLst/>
              </a:rPr>
              <a:t>etc</a:t>
            </a:r>
            <a:r>
              <a:rPr lang="en-US" dirty="0">
                <a:effectLst/>
              </a:rPr>
              <a:t>)? </a:t>
            </a:r>
            <a:endParaRPr lang="en-US" dirty="0"/>
          </a:p>
          <a:p>
            <a:r>
              <a:rPr lang="en-US" dirty="0">
                <a:effectLst/>
              </a:rPr>
              <a:t>     - How much of what is required do I already know? (0%....100%)?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477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W_Photography_Campus_0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CBBF65F9F714BA6B7672F506B2B6E" ma:contentTypeVersion="0" ma:contentTypeDescription="Create a new document." ma:contentTypeScope="" ma:versionID="f9a81982263cf5f09a0f3f49044eb68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3c307ddd8356acff2b962ac28706ca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1C1B9A-B966-46DC-B2D8-0A69EF1614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4CBAEA3-3540-4410-A42C-164733B5C1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ED896D-4F34-4924-85C5-31CFF61C77F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 Antiqua</vt:lpstr>
      <vt:lpstr>Calibri</vt:lpstr>
      <vt:lpstr>Times New Roman</vt:lpstr>
      <vt:lpstr>Wingdings</vt:lpstr>
      <vt:lpstr>GW_Photography_Campus_0</vt:lpstr>
      <vt:lpstr>PowerPoint Presentation</vt:lpstr>
      <vt:lpstr>Brian Wright  Associate Professor Director for Undergrad Programs University of Virginia  PhD: Higher Education Administration Economics, Public Policy  Founded the DS Program at GWU Founded the DSI at GWU  Founded UVA’s Undergraduate Programs  DS Labs LLC – Founder (DS Consulting)  Worked in Defense Consulting for 10 years   </vt:lpstr>
      <vt:lpstr>Research Interest: Intersection of Data Science and Education generally  Data Science Active Learning Lab 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2020-01-14T20:21:30Z</dcterms:created>
  <dcterms:modified xsi:type="dcterms:W3CDTF">2026-01-13T15:55:22Z</dcterms:modified>
</cp:coreProperties>
</file>